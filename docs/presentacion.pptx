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910c6806-11c1-2a7f-4896-289338eadb03}">
          <p14:sldIdLst>
            <p14:sldId id="256"/>
          </p14:sldIdLst>
        </p14:section>
        <p14:section name="Estrategia y metodología" id="{5c4b9729-358d-881c-5da4-e916350f1089}">
          <p14:sldIdLst>
            <p14:sldId id="257"/>
            <p14:sldId id="258"/>
          </p14:sldIdLst>
        </p14:section>
        <p14:section name="Resultados" id="{5e0ffa1a-e961-1109-c7a6-ba1a149128ea}">
          <p14:sldIdLst>
            <p14:sldId id="259"/>
            <p14:sldId id="260"/>
            <p14:sldId id="261"/>
          </p14:sldIdLst>
        </p14:section>
        <p14:section name="Preguntas del lab" id="{1d1aa9ba-3b27-2ede-8e18-bb202c1e07a4}">
          <p14:sldIdLst>
            <p14:sldId id="262"/>
            <p14:sldId id="263"/>
            <p14:sldId id="264"/>
            <p14:sldId id="265"/>
            <p14:sldId id="266"/>
          </p14:sldIdLst>
        </p14:section>
        <p14:section name="Cierre" id="{047fdb97-12fb-b086-93d3-dce4c8f2d70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objetivo: una estrategia direccional larga y corta sobre 8 activos, con confirmación de 2 de 3 indicadores, capital repartido con Risk Parity y ajustado por el régimen de mercado. Adelantar el mensaje principal: el sistema es metodológicamente sólido, pero fuera de muestra no tiene ventaja frente a buy &amp;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regla 2 de 3: dos votos a favor y uno en contra (Σx = 1) no abren posición. La fuerza s distingue 3 de 3 (s = 1) de 2 de 3 (s = 2/3). El régimen hace dos cosas: multiplica los pesos por m (1.0 en tendencia, 0.7 en reversión y 0.3 en crisis) y define qué parámetros de salida (k, r y holding máximo) se usan, porque el walk-forward optimiza un juego por régimen. Risk Parity reparte el capital y el motor ejecuta en t+1 para no usar información futura. El costo de ida y vuelta es 2 × (0.125% de comisión + 2 bps de slippage) = 29 bps.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oro es la causalidad: todo lo que se decide en t usa datos hasta el cierre de t. Las pruebas de truncamiento recalculan sobre los datos hasta t y exigen el mismo valor que con la serie completa. Se eligió el centro de la meseta para no premiar un pico aislado.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Arriba está la etiqueta filtrada, la que se opera: solo usa datos hasta t. Abajo, Viterbi reetiqueta el pasado con información futura; solo aparece para comparar y nunca se opera. El método de reglas ganó con una regla de elección fijada antes de ver validation: crisis si la volatilidad supera su cuantil 0.80; si no, tendencia si la eficiencia supera su mediana; si no, reversión. Se reajusta cada mes con ventana expandible.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importancia dice qué parámetros mueven más el Calmar; la superficie muestra esos dos con el resto fijo. No existe una superficie completa en más de dos dimensiones. θ* es el centro de la mejor meseta, no el argmax, para que un pequeño cambio no destruya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mes fuera de muestra opera con los parámetros de su ventana del walk-forward. La estrategia reduce mucho el drawdown, pero casi no gana: −0.4% anual en validation y +0.7% en test. Aun escalando buy &amp; hold a la misma volatilidad (línea punteada, ex post), buy &amp; hold gana en los tres bloques. El problema no es solo la menor exposición: no hay un edge que compense la deriva alcista del universo.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P1: con el mismo θ*, la confirmación filtra los cambios frecuentes de voto de MACD y RSI, que pagan 29 bps cada ida y vuelta. P2: la eficiencia del walk-forward es el retorno fuera de muestra entre el retorno in-sample promedio; 0.15 está muy debajo de 0.5, así que la mayor parte del resultado in-sample no se sostiene.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P3: cada parámetro óptimo se movió a ×0.8 y ×1.2 con el resto fijo. k y r casi no mueven el Calmar; sma_slow, max_holding y rsi_hi son los más sensibles. Es una meseta, pero in-sample. P4: en train el equilibrio está por encima de 100 bps; fuera de muestra, con los costos base, la estrategia queda alrededor de cero, así que el equilibrio real está cerca de los 29 bps.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compara el walk-forward con un θ por régimen contra uno con un θ único, ambos fuera de muestra. Adaptar las salidas (k, r, m) al régimen es la parte de la estrategia que sí se sostiene. Tendencia es positiva en train y test y solo falla en 2022; reversión pierde en los tres bloques. No se cambió el multiplicador después de ver estos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justificación es de asignación de riesgo, no de retorno. Con pesos iguales, AMD domina el riesgo del portafolio. Risk Parity iguala las contribuciones usando la formulación convexa de Spinu y covarianza Ledoit-Wolf, que fue el estimador más estable en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backtest asume ejecución completa al precio modelado y no incorpora impacto de mercado ni fallas de ejecución. El impacto se estimó con σ diaria · √(Q / ADV) sobre las operaciones de test: 0.58% del equity inicial, cerca de 23% del retorno del bloque. Crece con √Q: con 100 veces más capital la estrategia perdería dinero.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mensaje honesto: el proceso está bien hecho y los resultados se reportan tal como salieron, incluidos los negativos. Lo que funciona es la confirmación, el régimen y Risk Parity como gestión de riesgo; lo que no, la rentabilidad fuera de muestra.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Lab 02 · Equipo 3 · Microestructuras y Sistemas de Trading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Lab 02 · Equipo 3 · Nivel C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Estrategias de trading con análisis técnico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Señal 2 de 3 · régimen de mercado · Risk Parity · walk-forward con Optuna</a:t>
            </a:r>
            <a:endParaRPr lang="en-US" sz="2000" dirty="0"/>
          </a:p>
        </p:txBody>
      </p:sp>
      <p:sp>
        <p:nvSpPr>
          <p:cNvPr id="5" name="etiqueta resumen"/>
          <p:cNvSpPr/>
          <p:nvPr/>
        </p:nvSpPr>
        <p:spPr>
          <a:xfrm>
            <a:off x="548640" y="402336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22406E"/>
          </a:solidFill>
          <a:ln w="12700">
            <a:solidFill>
              <a:srgbClr val="2240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8 activos de EE.UU.</a:t>
            </a:r>
            <a:endParaRPr lang="en-US" sz="1300" dirty="0"/>
          </a:p>
        </p:txBody>
      </p:sp>
      <p:sp>
        <p:nvSpPr>
          <p:cNvPr id="7" name="etiqueta resumen"/>
          <p:cNvSpPr/>
          <p:nvPr/>
        </p:nvSpPr>
        <p:spPr>
          <a:xfrm>
            <a:off x="3246120" y="402336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22406E"/>
          </a:solidFill>
          <a:ln w="12700">
            <a:solidFill>
              <a:srgbClr val="2240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Barras diarias 2017–2026</a:t>
            </a:r>
            <a:endParaRPr lang="en-US" sz="1300" dirty="0"/>
          </a:p>
        </p:txBody>
      </p:sp>
      <p:sp>
        <p:nvSpPr>
          <p:cNvPr id="9" name="etiqueta resumen"/>
          <p:cNvSpPr/>
          <p:nvPr/>
        </p:nvSpPr>
        <p:spPr>
          <a:xfrm>
            <a:off x="5943600" y="402336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22406E"/>
          </a:solidFill>
          <a:ln w="12700">
            <a:solidFill>
              <a:srgbClr val="2240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Largo y corto</a:t>
            </a:r>
            <a:endParaRPr lang="en-US" sz="1300" dirty="0"/>
          </a:p>
        </p:txBody>
      </p:sp>
      <p:sp>
        <p:nvSpPr>
          <p:cNvPr id="11" name="etiqueta resumen"/>
          <p:cNvSpPr/>
          <p:nvPr/>
        </p:nvSpPr>
        <p:spPr>
          <a:xfrm>
            <a:off x="8641080" y="402336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22406E"/>
          </a:solidFill>
          <a:ln w="12700">
            <a:solidFill>
              <a:srgbClr val="2240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4108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Test corrido una vez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Gonzalo Cano Padilla · Juan Manuel Espinosa Cárdenas · Jerónimo Rojas Alvarado · Raúl Zanatta Casas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</a:rPr>
              <a:t>Microestructuras y Sistemas de Trading (IT1731B) · ITESO, Otoño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estrategia en cuatro pasos</a:t>
            </a:r>
            <a:endParaRPr lang="en-US" sz="3400" dirty="0"/>
          </a:p>
        </p:txBody>
      </p:sp>
      <p:sp>
        <p:nvSpPr>
          <p:cNvPr id="3" name="paso 1"/>
          <p:cNvSpPr/>
          <p:nvPr/>
        </p:nvSpPr>
        <p:spPr>
          <a:xfrm>
            <a:off x="548640" y="132588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 2 de 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SMA, MACD y RSI votan −1, 0 o +1. Se abre solo si |Σx| ≥ 2; la fuerza es s = Σx / 3.</a:t>
            </a:r>
            <a:endParaRPr lang="en-US" sz="1400" dirty="0"/>
          </a:p>
        </p:txBody>
      </p:sp>
      <p:sp>
        <p:nvSpPr>
          <p:cNvPr id="8" name="paso 2"/>
          <p:cNvSpPr/>
          <p:nvPr/>
        </p:nvSpPr>
        <p:spPr>
          <a:xfrm>
            <a:off x="3390824" y="132588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9424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942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22402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Régimen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26974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día se clasifica el mercado (tendencia, reversión o crisis). Ajusta cuánto se invierte (100%, 70%, 30%) y qué salidas (SL y TP) se usan.</a:t>
            </a:r>
            <a:endParaRPr lang="en-US" sz="1400" dirty="0"/>
          </a:p>
        </p:txBody>
      </p:sp>
      <p:sp>
        <p:nvSpPr>
          <p:cNvPr id="13" name="paso 3"/>
          <p:cNvSpPr/>
          <p:nvPr/>
        </p:nvSpPr>
        <p:spPr>
          <a:xfrm>
            <a:off x="6233008" y="132588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1608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22402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Parity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6974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activo aporta el mismo riesgo (Spinu, Ledoit-Wolf). Capital C_i = |w_target| · Equity.</a:t>
            </a:r>
            <a:endParaRPr lang="en-US" sz="1400" dirty="0"/>
          </a:p>
        </p:txBody>
      </p:sp>
      <p:sp>
        <p:nvSpPr>
          <p:cNvPr id="18" name="paso 4"/>
          <p:cNvSpPr/>
          <p:nvPr/>
        </p:nvSpPr>
        <p:spPr>
          <a:xfrm>
            <a:off x="9075191" y="132588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03791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3791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22402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26974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Señal al cierre de t, orden al Open de t+1. SL y TP con ATR; costo de ida y vuelta de 29 bps.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Universo (elegido en conjunto por el equipo)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62179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6634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AAPL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61872" y="4663440"/>
            <a:ext cx="62179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61872" y="46634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MSFT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75104" y="4663440"/>
            <a:ext cx="62179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75104" y="46634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META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88336" y="4663440"/>
            <a:ext cx="62179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88336" y="46634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AMD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01568" y="4663440"/>
            <a:ext cx="62179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01568" y="46634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XOM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0" y="4663440"/>
            <a:ext cx="62179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14800" y="46634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SMH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28032" y="4663440"/>
            <a:ext cx="62179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28032" y="46634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GLD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41264" y="4663440"/>
            <a:ext cx="62179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41264" y="46634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COPX</a:t>
            </a:r>
            <a:endParaRPr lang="en-US" sz="1200" dirty="0"/>
          </a:p>
        </p:txBody>
      </p:sp>
      <p:sp>
        <p:nvSpPr>
          <p:cNvPr id="40" name="viñetas"/>
          <p:cNvSpPr txBox="1"/>
          <p:nvPr/>
        </p:nvSpPr>
        <p:spPr>
          <a:xfrm>
            <a:off x="548640" y="52578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de 8 son tecnología o semiconductores: correlación alta, declarada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Datos diarios ajustados de Yahoo Finance, sin huecos ni relleno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Partición temporal</a:t>
            </a:r>
            <a:endParaRPr lang="en-US" sz="1400" dirty="0"/>
          </a:p>
        </p:txBody>
      </p:sp>
      <p:sp>
        <p:nvSpPr>
          <p:cNvPr id="42" name="bloque Train"/>
          <p:cNvSpPr/>
          <p:nvPr/>
        </p:nvSpPr>
        <p:spPr>
          <a:xfrm>
            <a:off x="6583680" y="4663440"/>
            <a:ext cx="2267137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83680" y="4663440"/>
            <a:ext cx="22671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Train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5074920"/>
            <a:ext cx="22671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2018–2021</a:t>
            </a:r>
            <a:endParaRPr lang="en-US" sz="1100" dirty="0"/>
          </a:p>
        </p:txBody>
      </p:sp>
      <p:sp>
        <p:nvSpPr>
          <p:cNvPr id="45" name="bloque Validation"/>
          <p:cNvSpPr/>
          <p:nvPr/>
        </p:nvSpPr>
        <p:spPr>
          <a:xfrm>
            <a:off x="8896537" y="4663440"/>
            <a:ext cx="1110709" cy="3840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896537" y="4663440"/>
            <a:ext cx="1110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896537" y="5074920"/>
            <a:ext cx="1110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2022–2023</a:t>
            </a:r>
            <a:endParaRPr lang="en-US" sz="1100" dirty="0"/>
          </a:p>
        </p:txBody>
      </p:sp>
      <p:sp>
        <p:nvSpPr>
          <p:cNvPr id="48" name="bloque Test"/>
          <p:cNvSpPr/>
          <p:nvPr/>
        </p:nvSpPr>
        <p:spPr>
          <a:xfrm>
            <a:off x="10052966" y="4663440"/>
            <a:ext cx="1544369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052966" y="4663440"/>
            <a:ext cx="1544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052966" y="5074920"/>
            <a:ext cx="1544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2024–sep 2026</a:t>
            </a:r>
            <a:endParaRPr lang="en-US" sz="1100" dirty="0"/>
          </a:p>
        </p:txBody>
      </p:sp>
      <p:sp>
        <p:nvSpPr>
          <p:cNvPr id="51" name="viñetas"/>
          <p:cNvSpPr txBox="1"/>
          <p:nvPr/>
        </p:nvSpPr>
        <p:spPr>
          <a:xfrm>
            <a:off x="6583680" y="5486400"/>
            <a:ext cx="5059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Validation: una sola corrida para decisiones discretas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Test: una sola corrida con el código congelado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sin mirar el futuro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Walk-forward rolling: 6 meses de entrenamiento, 1 de prueba, paso mensual</a:t>
            </a:r>
            <a:endParaRPr lang="en-US" sz="1400" dirty="0"/>
          </a:p>
        </p:txBody>
      </p:sp>
      <p:sp>
        <p:nvSpPr>
          <p:cNvPr id="4" name="ventana 1 entrenamiento"/>
          <p:cNvSpPr/>
          <p:nvPr/>
        </p:nvSpPr>
        <p:spPr>
          <a:xfrm>
            <a:off x="548640" y="1783080"/>
            <a:ext cx="2715768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ventana 1 prueba"/>
          <p:cNvSpPr/>
          <p:nvPr/>
        </p:nvSpPr>
        <p:spPr>
          <a:xfrm>
            <a:off x="3291840" y="1783080"/>
            <a:ext cx="42976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ventana 2 entrenamiento"/>
          <p:cNvSpPr/>
          <p:nvPr/>
        </p:nvSpPr>
        <p:spPr>
          <a:xfrm>
            <a:off x="1005840" y="2240280"/>
            <a:ext cx="2715768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ventana 2 prueba"/>
          <p:cNvSpPr/>
          <p:nvPr/>
        </p:nvSpPr>
        <p:spPr>
          <a:xfrm>
            <a:off x="3749040" y="2240280"/>
            <a:ext cx="42976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ventana 3 entrenamiento"/>
          <p:cNvSpPr/>
          <p:nvPr/>
        </p:nvSpPr>
        <p:spPr>
          <a:xfrm>
            <a:off x="1463040" y="2697480"/>
            <a:ext cx="2715768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ventana 3 prueba"/>
          <p:cNvSpPr/>
          <p:nvPr/>
        </p:nvSpPr>
        <p:spPr>
          <a:xfrm>
            <a:off x="4206240" y="2697480"/>
            <a:ext cx="42976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ventana 4 entrenamiento"/>
          <p:cNvSpPr/>
          <p:nvPr/>
        </p:nvSpPr>
        <p:spPr>
          <a:xfrm>
            <a:off x="1920240" y="3154680"/>
            <a:ext cx="2715768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ventana 4 prueba"/>
          <p:cNvSpPr/>
          <p:nvPr/>
        </p:nvSpPr>
        <p:spPr>
          <a:xfrm>
            <a:off x="4663440" y="3154680"/>
            <a:ext cx="42976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ventana 5 entrenamiento"/>
          <p:cNvSpPr/>
          <p:nvPr/>
        </p:nvSpPr>
        <p:spPr>
          <a:xfrm>
            <a:off x="2377440" y="3611880"/>
            <a:ext cx="2715768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ventana 5 prueba"/>
          <p:cNvSpPr/>
          <p:nvPr/>
        </p:nvSpPr>
        <p:spPr>
          <a:xfrm>
            <a:off x="5120640" y="3611880"/>
            <a:ext cx="42976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464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…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274320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462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Entrenamiento (optimiza)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4526280"/>
            <a:ext cx="274320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4462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Prueba fuera de muestra</a:t>
            </a:r>
            <a:endParaRPr lang="en-US" sz="1200" dirty="0"/>
          </a:p>
        </p:txBody>
      </p:sp>
      <p:sp>
        <p:nvSpPr>
          <p:cNvPr id="19" name="viñetas"/>
          <p:cNvSpPr txBox="1"/>
          <p:nvPr/>
        </p:nvSpPr>
        <p:spPr>
          <a:xfrm>
            <a:off x="548640" y="50292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Purga y embargo: </a:t>
            </a:r>
            <a:r>
              <a:rPr lang="en-US" sz="1400" dirty="0">
                <a:solidFill>
                  <a:schemeClr val="tx1"/>
                </a:solidFill>
              </a:rPr>
              <a:t>valuación a mercado al cierre de cada ventana y sin entradas en sus últimos 5 días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Semilla: </a:t>
            </a:r>
            <a:r>
              <a:rPr lang="en-US" sz="1400" dirty="0">
                <a:solidFill>
                  <a:schemeClr val="tx1"/>
                </a:solidFill>
              </a:rPr>
              <a:t>42 + i en la ventana i; resultados reproducibles</a:t>
            </a:r>
            <a:endParaRPr lang="en-US" sz="1400" dirty="0"/>
          </a:p>
        </p:txBody>
      </p:sp>
      <p:sp>
        <p:nvSpPr>
          <p:cNvPr id="20" name="viñetas"/>
          <p:cNvSpPr txBox="1"/>
          <p:nvPr/>
        </p:nvSpPr>
        <p:spPr>
          <a:xfrm>
            <a:off x="6858000" y="1280160"/>
            <a:ext cx="47850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Diagnóstico en train: </a:t>
            </a:r>
            <a:r>
              <a:rPr lang="en-US" sz="1500" dirty="0">
                <a:solidFill>
                  <a:schemeClr val="tx1"/>
                </a:solidFill>
              </a:rPr>
              <a:t>200 pruebas random y 200 TPE en 8 dimensiones, objetivo Calmar con costos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θ* = centro de la meseta: </a:t>
            </a:r>
            <a:r>
              <a:rPr lang="en-US" sz="1500" dirty="0">
                <a:solidFill>
                  <a:schemeClr val="tx1"/>
                </a:solidFill>
              </a:rPr>
              <a:t>medoide del mejor 10% factible, no el máximo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En cada ventana: </a:t>
            </a:r>
            <a:r>
              <a:rPr lang="en-US" sz="1500" dirty="0">
                <a:solidFill>
                  <a:schemeClr val="tx1"/>
                </a:solidFill>
              </a:rPr>
              <a:t>k, r y m por régimen con 150 pruebas por estudio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Actividad mínima: </a:t>
            </a:r>
            <a:r>
              <a:rPr lang="en-US" sz="1500" dirty="0">
                <a:solidFill>
                  <a:schemeClr val="tx1"/>
                </a:solidFill>
              </a:rPr>
              <a:t>24 operaciones por 6 meses, prorrateadas por régimen; si no se cumple, −inf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Pruebas automáticas: </a:t>
            </a:r>
            <a:r>
              <a:rPr lang="en-US" sz="1500" dirty="0">
                <a:solidFill>
                  <a:schemeClr val="tx1"/>
                </a:solidFill>
              </a:rPr>
              <a:t>truncamiento (el valor en t no cambia al agregar datos), contabilidad y 9 golden tests del motor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Régimen de mercado: reglas causales</a:t>
            </a:r>
            <a:endParaRPr lang="en-US" sz="3400" dirty="0"/>
          </a:p>
        </p:txBody>
      </p:sp>
      <p:pic>
        <p:nvPicPr>
          <p:cNvPr id="3" name="Etiqueta filtrada contra Viterbi" descr="Etiqueta filtrada contra Viterb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3822"/>
            <a:ext cx="7589520" cy="4484716"/>
          </a:xfrm>
          <a:prstGeom prst="rect">
            <a:avLst/>
          </a:prstGeom>
        </p:spPr>
      </p:pic>
      <p:sp>
        <p:nvSpPr>
          <p:cNvPr id="4" name="viñetas"/>
          <p:cNvSpPr txBox="1"/>
          <p:nvPr/>
        </p:nvSpPr>
        <p:spPr>
          <a:xfrm>
            <a:off x="8412480" y="1234440"/>
            <a:ext cx="3230575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Variables (63 días): </a:t>
            </a:r>
            <a:r>
              <a:rPr lang="en-US" sz="1400" dirty="0">
                <a:solidFill>
                  <a:schemeClr val="tx1"/>
                </a:solidFill>
              </a:rPr>
              <a:t>volatilidad, razón de eficiencia y autocorrelación del índice equiponderado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Cómo se usa: </a:t>
            </a:r>
            <a:r>
              <a:rPr lang="en-US" sz="1400" dirty="0">
                <a:solidFill>
                  <a:schemeClr val="tx1"/>
                </a:solidFill>
              </a:rPr>
              <a:t>el régimen escala el capital y elige los parámetros de salida del día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Ganó reglas </a:t>
            </a:r>
            <a:r>
              <a:rPr lang="en-US" sz="1400" dirty="0">
                <a:solidFill>
                  <a:schemeClr val="tx1"/>
                </a:solidFill>
              </a:rPr>
              <a:t>sobre K-means y HMM: mayor silhouette en validation (0.34) y menos cambios por mes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Persistente: </a:t>
            </a:r>
            <a:r>
              <a:rPr lang="en-US" sz="1400" dirty="0">
                <a:solidFill>
                  <a:schemeClr val="tx1"/>
                </a:solidFill>
              </a:rPr>
              <a:t>12 a 19 días por régimen, sobre la meta de 10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Silhouette 0.13–0.34, </a:t>
            </a:r>
            <a:r>
              <a:rPr lang="en-US" sz="1400" dirty="0">
                <a:solidFill>
                  <a:schemeClr val="tx1"/>
                </a:solidFill>
              </a:rPr>
              <a:t>debajo de 0.4: ventanas traslapadas, sin grupos compactos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Crisis: </a:t>
            </a:r>
            <a:r>
              <a:rPr lang="en-US" sz="1400" dirty="0">
                <a:solidFill>
                  <a:schemeClr val="tx1"/>
                </a:solidFill>
              </a:rPr>
              <a:t>32% en train, 51% en 2022–2023 y 11% en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 la optimización en train</a:t>
            </a:r>
            <a:endParaRPr lang="en-US" sz="3400" dirty="0"/>
          </a:p>
        </p:txBody>
      </p:sp>
      <p:pic>
        <p:nvPicPr>
          <p:cNvPr id="3" name="Importancia de los parámetros" descr="Importancia de los parámet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653" y="1234440"/>
            <a:ext cx="5350933" cy="3611880"/>
          </a:xfrm>
          <a:prstGeom prst="rect">
            <a:avLst/>
          </a:prstGeom>
        </p:spPr>
      </p:pic>
      <p:pic>
        <p:nvPicPr>
          <p:cNvPr id="4" name="Superficie de Calmar" descr="Superficie de Calm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477" y="1234440"/>
            <a:ext cx="4643846" cy="3611880"/>
          </a:xfrm>
          <a:prstGeom prst="rect">
            <a:avLst/>
          </a:prstGeom>
        </p:spPr>
      </p:pic>
      <p:sp>
        <p:nvSpPr>
          <p:cNvPr id="5" name="pie de figura"/>
          <p:cNvSpPr txBox="1"/>
          <p:nvPr/>
        </p:nvSpPr>
        <p:spPr>
          <a:xfrm>
            <a:off x="54864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Importancia fANOVA del estudio TPE</a:t>
            </a:r>
            <a:endParaRPr lang="en-US" sz="1100" dirty="0"/>
          </a:p>
        </p:txBody>
      </p:sp>
      <p:sp>
        <p:nvSpPr>
          <p:cNvPr id="6" name="pie de figura"/>
          <p:cNvSpPr txBox="1"/>
          <p:nvPr/>
        </p:nvSpPr>
        <p:spPr>
          <a:xfrm>
            <a:off x="621792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Corte de 2 de 8 dimensiones; el resto fijo en la mejor prueba random</a:t>
            </a:r>
            <a:endParaRPr lang="en-US" sz="1100" dirty="0"/>
          </a:p>
        </p:txBody>
      </p:sp>
      <p:sp>
        <p:nvSpPr>
          <p:cNvPr id="7" name="viñetas"/>
          <p:cNvSpPr txBox="1"/>
          <p:nvPr/>
        </p:nvSpPr>
        <p:spPr>
          <a:xfrm>
            <a:off x="548640" y="5349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400 configuraciones </a:t>
            </a:r>
            <a:r>
              <a:rPr lang="en-US" sz="1400" dirty="0">
                <a:solidFill>
                  <a:schemeClr val="tx1"/>
                </a:solidFill>
              </a:rPr>
              <a:t>(200 random y 200 TPE); casi todas factibles con el mínimo de 192 operaciones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θ*: </a:t>
            </a:r>
            <a:r>
              <a:rPr lang="en-US" sz="1400" dirty="0">
                <a:solidFill>
                  <a:schemeClr val="tx1"/>
                </a:solidFill>
              </a:rPr>
              <a:t>SMA 19/64, RSI 20 (39–65), k = 3.8, r = 3.6, m = 40, medoide del mejor 10% del TPE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de muestra: estrategia plana</a:t>
            </a:r>
            <a:endParaRPr lang="en-US" sz="3400" dirty="0"/>
          </a:p>
        </p:txBody>
      </p:sp>
      <p:pic>
        <p:nvPicPr>
          <p:cNvPr id="3" name="Estrategia contra buy &amp; hold" descr="Estrategia contra buy &amp; 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8616"/>
            <a:ext cx="7315200" cy="4655127"/>
          </a:xfrm>
          <a:prstGeom prst="rect">
            <a:avLst/>
          </a:prstGeom>
        </p:spPr>
      </p:pic>
      <p:sp>
        <p:nvSpPr>
          <p:cNvPr id="4" name="tarjeta cifra"/>
          <p:cNvSpPr/>
          <p:nvPr/>
        </p:nvSpPr>
        <p:spPr>
          <a:xfrm>
            <a:off x="8183880" y="1234440"/>
            <a:ext cx="345917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66760" y="1344168"/>
            <a:ext cx="309341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+0.7% anual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192024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Risk Parity en test (−0.4% en validation)</a:t>
            </a:r>
            <a:endParaRPr lang="en-US" sz="1200" dirty="0"/>
          </a:p>
        </p:txBody>
      </p:sp>
      <p:sp>
        <p:nvSpPr>
          <p:cNvPr id="7" name="tarjeta cifra"/>
          <p:cNvSpPr/>
          <p:nvPr/>
        </p:nvSpPr>
        <p:spPr>
          <a:xfrm>
            <a:off x="8183880" y="2514600"/>
            <a:ext cx="345917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624328"/>
            <a:ext cx="309341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−10.7%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320040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Drawdown máximo en test, contra −21.3% de buy &amp; hold</a:t>
            </a:r>
            <a:endParaRPr lang="en-US" sz="1200" dirty="0"/>
          </a:p>
        </p:txBody>
      </p:sp>
      <p:sp>
        <p:nvSpPr>
          <p:cNvPr id="10" name="tarjeta cifra"/>
          <p:cNvSpPr/>
          <p:nvPr/>
        </p:nvSpPr>
        <p:spPr>
          <a:xfrm>
            <a:off x="8183880" y="3794760"/>
            <a:ext cx="345917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3904488"/>
            <a:ext cx="309341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×1.16 vs ×10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448056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Capital en 8.25 años: estrategia contra buy &amp; hold</a:t>
            </a:r>
            <a:endParaRPr lang="en-US" sz="1200" dirty="0"/>
          </a:p>
        </p:txBody>
      </p:sp>
      <p:sp>
        <p:nvSpPr>
          <p:cNvPr id="13" name="viñetas"/>
          <p:cNvSpPr txBox="1"/>
          <p:nvPr/>
        </p:nvSpPr>
        <p:spPr>
          <a:xfrm>
            <a:off x="8183880" y="5166360"/>
            <a:ext cx="34591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Sharpe negativo: no le gana al T-Bill (3.5% a 4.3%)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Exposición media de 31% a 39%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Confirmar ayuda, optimizar no generaliza</a:t>
            </a:r>
            <a:endParaRPr lang="en-US" sz="3400" dirty="0"/>
          </a:p>
        </p:txBody>
      </p:sp>
      <p:sp>
        <p:nvSpPr>
          <p:cNvPr id="3" name="etiqueta pregunta"/>
          <p:cNvSpPr/>
          <p:nvPr/>
        </p:nvSpPr>
        <p:spPr>
          <a:xfrm>
            <a:off x="10728655" y="45720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728655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P1 · P2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P1 · ¿Qué aporta la regla 2 de 3? (train, θ*)</a:t>
            </a:r>
            <a:endParaRPr lang="en-US" sz="1600" dirty="0"/>
          </a:p>
        </p:txBody>
      </p:sp>
      <p:graphicFrame>
        <p:nvGraphicFramePr>
          <p:cNvPr id="8" name="tabla P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31860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6610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 sola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solo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MACD solo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viñetas"/>
          <p:cNvSpPr txBox="1"/>
          <p:nvPr/>
        </p:nvSpPr>
        <p:spPr>
          <a:xfrm>
            <a:off x="548640" y="3657600"/>
            <a:ext cx="531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Recorta 64% de las operaciones de MACD y 70% de las de RSI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Votos SMA–MACD con correlación de −0.135: no son redundantes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24448" y="123444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P2 · ¿Cuánto se degrada en el walk-forward?</a:t>
            </a:r>
            <a:endParaRPr lang="en-US" sz="1600" dirty="0"/>
          </a:p>
        </p:txBody>
      </p:sp>
      <p:sp>
        <p:nvSpPr>
          <p:cNvPr id="9" name="tarjeta cifra"/>
          <p:cNvSpPr/>
          <p:nvPr/>
        </p:nvSpPr>
        <p:spPr>
          <a:xfrm>
            <a:off x="6324448" y="169164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801368"/>
            <a:ext cx="1737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459736"/>
            <a:ext cx="17373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Eficiencia rolling por régimen (umbral ~0.5)</a:t>
            </a:r>
            <a:endParaRPr lang="en-US" sz="1200" dirty="0"/>
          </a:p>
        </p:txBody>
      </p:sp>
      <p:graphicFrame>
        <p:nvGraphicFramePr>
          <p:cNvPr id="15" name="tabla P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10448" y="1691640"/>
          <a:ext cx="303260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60120"/>
                <a:gridCol w="102092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 OOS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3" name="viñetas"/>
          <p:cNvSpPr txBox="1"/>
          <p:nvPr/>
        </p:nvSpPr>
        <p:spPr>
          <a:xfrm>
            <a:off x="6324448" y="3246120"/>
            <a:ext cx="531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Solo sobrevive ~15% de la ventaja in-sample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Anchored tampoco lo corrige: el edge decae con el tiempo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131,850 configuraciones en 38 minutos de optimización</a:t>
            </a:r>
            <a:endParaRPr lang="en-US" sz="1400" dirty="0"/>
          </a:p>
        </p:txBody>
      </p:sp>
      <p:sp>
        <p:nvSpPr>
          <p:cNvPr id="14" name="mensaje clave"/>
          <p:cNvSpPr/>
          <p:nvPr/>
        </p:nvSpPr>
        <p:spPr>
          <a:xfrm>
            <a:off x="548640" y="4800600"/>
            <a:ext cx="1109441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4800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Lo que la optimización encuentra en 6 meses no se repite el mes siguiente: el resultado in-sample es, en buena parte, ruido ajustado.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Robusta a ±20% y a los costos, solo en train</a:t>
            </a:r>
            <a:endParaRPr lang="en-US" sz="3400" dirty="0"/>
          </a:p>
        </p:txBody>
      </p:sp>
      <p:sp>
        <p:nvSpPr>
          <p:cNvPr id="3" name="etiqueta pregunta"/>
          <p:cNvSpPr/>
          <p:nvPr/>
        </p:nvSpPr>
        <p:spPr>
          <a:xfrm>
            <a:off x="10728655" y="45720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728655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P3 · P4</a:t>
            </a:r>
            <a:endParaRPr lang="en-US" sz="1600" dirty="0"/>
          </a:p>
        </p:txBody>
      </p:sp>
      <p:pic>
        <p:nvPicPr>
          <p:cNvPr id="5" name="Sensibilidad de Calmar a ±20%" descr="Sensibilidad de Calmar a ±20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4671"/>
            <a:ext cx="4023360" cy="4863018"/>
          </a:xfrm>
          <a:prstGeom prst="rect">
            <a:avLst/>
          </a:prstGeom>
        </p:spPr>
      </p:pic>
      <p:pic>
        <p:nvPicPr>
          <p:cNvPr id="6" name="Retorno neto contra costo" descr="Retorno neto contra co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8" y="1234440"/>
            <a:ext cx="6217920" cy="3108960"/>
          </a:xfrm>
          <a:prstGeom prst="rect">
            <a:avLst/>
          </a:prstGeom>
        </p:spPr>
      </p:pic>
      <p:sp>
        <p:nvSpPr>
          <p:cNvPr id="7" name="viñetas"/>
          <p:cNvSpPr txBox="1"/>
          <p:nvPr/>
        </p:nvSpPr>
        <p:spPr>
          <a:xfrm>
            <a:off x="4937760" y="4480560"/>
            <a:ext cx="67052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P3 · Meseta moderada: </a:t>
            </a:r>
            <a:r>
              <a:rPr lang="en-US" sz="1400" dirty="0">
                <a:solidFill>
                  <a:schemeClr val="tx1"/>
                </a:solidFill>
              </a:rPr>
              <a:t>la mediana de 16 variaciones conserva 91% del Calmar; lo frágil son las medias móviles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P4 · En train </a:t>
            </a:r>
            <a:r>
              <a:rPr lang="en-US" sz="1400" dirty="0">
                <a:solidFill>
                  <a:schemeClr val="tx1"/>
                </a:solidFill>
              </a:rPr>
              <a:t>es rentable hasta 100 bps: margen de más de 71 bps sobre los 29 del caso base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Fuera de muestra el margen es casi nulo: </a:t>
            </a:r>
            <a:r>
              <a:rPr lang="en-US" sz="1400" dirty="0">
                <a:solidFill>
                  <a:schemeClr val="tx1"/>
                </a:solidFill>
              </a:rPr>
              <a:t>los costos (1.4% a 2.2% del equity al año) se comen la ganancia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capa de régimen sí aporta</a:t>
            </a:r>
            <a:endParaRPr lang="en-US" sz="3400" dirty="0"/>
          </a:p>
        </p:txBody>
      </p:sp>
      <p:sp>
        <p:nvSpPr>
          <p:cNvPr id="3" name="etiqueta pregunta"/>
          <p:cNvSpPr/>
          <p:nvPr/>
        </p:nvSpPr>
        <p:spPr>
          <a:xfrm>
            <a:off x="10728655" y="45720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728655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P5</a:t>
            </a:r>
            <a:endParaRPr lang="en-US" sz="1600" dirty="0"/>
          </a:p>
        </p:txBody>
      </p:sp>
      <p:pic>
        <p:nvPicPr>
          <p:cNvPr id="5" name="θ por régimen contra θ único" descr="θ por régimen contra θ ún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766560" cy="3383280"/>
          </a:xfrm>
          <a:prstGeom prst="rect">
            <a:avLst/>
          </a:prstGeom>
        </p:spPr>
      </p:pic>
      <p:sp>
        <p:nvSpPr>
          <p:cNvPr id="6" name="viñetas"/>
          <p:cNvSpPr txBox="1"/>
          <p:nvPr/>
        </p:nvSpPr>
        <p:spPr>
          <a:xfrm>
            <a:off x="548640" y="47548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θ por régimen gana en los 3 bloques: </a:t>
            </a:r>
            <a:r>
              <a:rPr lang="en-US" sz="1400" dirty="0">
                <a:solidFill>
                  <a:schemeClr val="tx1"/>
                </a:solidFill>
              </a:rPr>
              <a:t>test +1.8% contra −3.5% anual; validation −1.4% contra −3.8%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Reversión pierde siempre: </a:t>
            </a:r>
            <a:r>
              <a:rPr lang="en-US" sz="1400" dirty="0">
                <a:solidFill>
                  <a:schemeClr val="tx1"/>
                </a:solidFill>
              </a:rPr>
              <a:t>seguir señales no funciona sin dirección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123444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Sharpe por régimen (walk-forward rolling)</a:t>
            </a:r>
            <a:endParaRPr lang="en-US" sz="1400" dirty="0"/>
          </a:p>
        </p:txBody>
      </p:sp>
      <p:graphicFrame>
        <p:nvGraphicFramePr>
          <p:cNvPr id="10" name="tabla P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691640"/>
          <a:ext cx="400781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893978"/>
                <a:gridCol w="893978"/>
                <a:gridCol w="89397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iñetas"/>
          <p:cNvSpPr txBox="1"/>
          <p:nvPr/>
        </p:nvSpPr>
        <p:spPr>
          <a:xfrm>
            <a:off x="7635240" y="3566160"/>
            <a:ext cx="40078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celda tiene de 78 a 373 días: coherente, pero no estadísticamente robusto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m(régimen) baja la exposición donde se pierde; reversión merecía un m menor, no ajustado a posteriori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Parity reparte el riesgo, no el capital</a:t>
            </a:r>
            <a:endParaRPr lang="en-US" sz="3400" dirty="0"/>
          </a:p>
        </p:txBody>
      </p:sp>
      <p:sp>
        <p:nvSpPr>
          <p:cNvPr id="3" name="etiqueta pregunta"/>
          <p:cNvSpPr/>
          <p:nvPr/>
        </p:nvSpPr>
        <p:spPr>
          <a:xfrm>
            <a:off x="10728655" y="45720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728655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P6</a:t>
            </a:r>
            <a:endParaRPr lang="en-US" sz="1600" dirty="0"/>
          </a:p>
        </p:txBody>
      </p:sp>
      <p:pic>
        <p:nvPicPr>
          <p:cNvPr id="5" name="Contribuciones al riesgo" descr="Contribuciones al ries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5354"/>
            <a:ext cx="6949440" cy="3335731"/>
          </a:xfrm>
          <a:prstGeom prst="rect">
            <a:avLst/>
          </a:prstGeom>
        </p:spPr>
      </p:pic>
      <p:sp>
        <p:nvSpPr>
          <p:cNvPr id="6" name="viñetas"/>
          <p:cNvSpPr txBox="1"/>
          <p:nvPr/>
        </p:nvSpPr>
        <p:spPr>
          <a:xfrm>
            <a:off x="548640" y="4709160"/>
            <a:ext cx="694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Risk Parity: </a:t>
            </a:r>
            <a:r>
              <a:rPr lang="en-US" sz="1400" dirty="0">
                <a:solidFill>
                  <a:schemeClr val="tx1"/>
                </a:solidFill>
              </a:rPr>
              <a:t>cada activo aporta 12.5% del riesgo (dispersión 0)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Pesos iguales: </a:t>
            </a:r>
            <a:r>
              <a:rPr lang="en-US" sz="1400" dirty="0">
                <a:solidFill>
                  <a:schemeClr val="tx1"/>
                </a:solidFill>
              </a:rPr>
              <a:t>AMD aporta 23.7% y GLD 1.6%; volatilidad 22.2% contra 16.6%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123444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Risk Parity contra pesos iguales</a:t>
            </a:r>
            <a:endParaRPr lang="en-US" sz="1400" dirty="0"/>
          </a:p>
        </p:txBody>
      </p:sp>
      <p:graphicFrame>
        <p:nvGraphicFramePr>
          <p:cNvPr id="11" name="tabla P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691640"/>
          <a:ext cx="382493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53893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 RP / iguales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 RP / iguales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 / 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−4.8% / −5.7%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 / −0.06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−6.2% / −7.7%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 / 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−10.7% / −14.8%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iñetas"/>
          <p:cNvSpPr txBox="1"/>
          <p:nvPr/>
        </p:nvSpPr>
        <p:spPr>
          <a:xfrm>
            <a:off x="7818120" y="3566160"/>
            <a:ext cx="382493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Mejora el Calmar solo en test, pero reduce el drawdown de 16% a 28% en cada bloque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Costo: sobrepondera GLD y XOM y subpondera la tecnología que más subió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limitaciones para capital real</a:t>
            </a:r>
            <a:endParaRPr lang="en-US" sz="3400" dirty="0"/>
          </a:p>
        </p:txBody>
      </p:sp>
      <p:sp>
        <p:nvSpPr>
          <p:cNvPr id="3" name="etiqueta pregunta"/>
          <p:cNvSpPr/>
          <p:nvPr/>
        </p:nvSpPr>
        <p:spPr>
          <a:xfrm>
            <a:off x="10728655" y="45720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728655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P7</a:t>
            </a:r>
            <a:endParaRPr lang="en-US" sz="1600" dirty="0"/>
          </a:p>
        </p:txBody>
      </p:sp>
      <p:sp>
        <p:nvSpPr>
          <p:cNvPr id="5" name="limitación 1"/>
          <p:cNvSpPr/>
          <p:nvPr/>
        </p:nvSpPr>
        <p:spPr>
          <a:xfrm>
            <a:off x="548640" y="1325880"/>
            <a:ext cx="3515258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edge fuera de muestra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666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Eficiencia de 0.15 y retorno OOS por debajo del T-Bill y de buy &amp; hold (7.8% y 38.4% en validation y test).</a:t>
            </a:r>
            <a:endParaRPr lang="en-US" sz="1400" dirty="0"/>
          </a:p>
        </p:txBody>
      </p:sp>
      <p:sp>
        <p:nvSpPr>
          <p:cNvPr id="9" name="limitación 2"/>
          <p:cNvSpPr/>
          <p:nvPr/>
        </p:nvSpPr>
        <p:spPr>
          <a:xfrm>
            <a:off x="4338218" y="1325880"/>
            <a:ext cx="3515258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1508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194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Sesgos del universo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651760"/>
            <a:ext cx="29666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Activos sobrevivientes elegidos en 2026, 5 de tecnología y muestra casi toda alcista: los cortos restaron.</a:t>
            </a:r>
            <a:endParaRPr lang="en-US" sz="1400" dirty="0"/>
          </a:p>
        </p:txBody>
      </p:sp>
      <p:sp>
        <p:nvSpPr>
          <p:cNvPr id="13" name="limitación 3"/>
          <p:cNvSpPr/>
          <p:nvPr/>
        </p:nvSpPr>
        <p:spPr>
          <a:xfrm>
            <a:off x="8127797" y="1325880"/>
            <a:ext cx="3515258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02117" y="1508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194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optimista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2651760"/>
            <a:ext cx="29666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Llenado completo al Open, SL y TP, slippage fijo de 2 bps y borrow sin recall ni parciales.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Impacto de mercado, estimado ex post con raíz cuadrada (no está en el motor)</a:t>
            </a:r>
            <a:endParaRPr lang="en-US" sz="1500" dirty="0"/>
          </a:p>
        </p:txBody>
      </p:sp>
      <p:sp>
        <p:nvSpPr>
          <p:cNvPr id="18" name="tarjeta cifra"/>
          <p:cNvSpPr/>
          <p:nvPr/>
        </p:nvSpPr>
        <p:spPr>
          <a:xfrm>
            <a:off x="548640" y="4572000"/>
            <a:ext cx="2567864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681728"/>
            <a:ext cx="2202104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bps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367528"/>
            <a:ext cx="2202104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promedio por llenado (p95: 6.7)</a:t>
            </a:r>
            <a:endParaRPr lang="en-US" sz="1200" dirty="0"/>
          </a:p>
        </p:txBody>
      </p:sp>
      <p:sp>
        <p:nvSpPr>
          <p:cNvPr id="21" name="tarjeta cifra"/>
          <p:cNvSpPr/>
          <p:nvPr/>
        </p:nvSpPr>
        <p:spPr>
          <a:xfrm>
            <a:off x="3390824" y="4572000"/>
            <a:ext cx="2567864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73704" y="4681728"/>
            <a:ext cx="2202104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 bps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3573704" y="5367528"/>
            <a:ext cx="2202104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 COPX, el menos líquido</a:t>
            </a:r>
            <a:endParaRPr lang="en-US" sz="1200" dirty="0"/>
          </a:p>
        </p:txBody>
      </p:sp>
      <p:sp>
        <p:nvSpPr>
          <p:cNvPr id="24" name="tarjeta cifra"/>
          <p:cNvSpPr/>
          <p:nvPr/>
        </p:nvSpPr>
        <p:spPr>
          <a:xfrm>
            <a:off x="6233008" y="4572000"/>
            <a:ext cx="2567864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4681728"/>
            <a:ext cx="2202104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6415888" y="5367528"/>
            <a:ext cx="2202104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del retorno de test se iría en impacto</a:t>
            </a:r>
            <a:endParaRPr lang="en-US" sz="1200" dirty="0"/>
          </a:p>
        </p:txBody>
      </p:sp>
      <p:sp>
        <p:nvSpPr>
          <p:cNvPr id="27" name="tarjeta cifra"/>
          <p:cNvSpPr/>
          <p:nvPr/>
        </p:nvSpPr>
        <p:spPr>
          <a:xfrm>
            <a:off x="9075191" y="4572000"/>
            <a:ext cx="2567864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58071" y="4681728"/>
            <a:ext cx="2202104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×10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9258071" y="5367528"/>
            <a:ext cx="2202104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más impacto con 100 veces el capital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Se sostiene"/>
          <p:cNvSpPr/>
          <p:nvPr/>
        </p:nvSpPr>
        <p:spPr>
          <a:xfrm>
            <a:off x="548640" y="1600200"/>
            <a:ext cx="5318608" cy="2834640"/>
          </a:xfrm>
          <a:prstGeom prst="roundRect">
            <a:avLst>
              <a:gd name="adj" fmla="val 3871"/>
            </a:avLst>
          </a:prstGeom>
          <a:solidFill>
            <a:srgbClr val="1D3560"/>
          </a:solidFill>
          <a:ln w="12700">
            <a:solidFill>
              <a:srgbClr val="1D35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D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sostiene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Metodología causal y verificada: truncamiento, golden tests, purga y embargo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Regla 2 de 3: menos operaciones y mejor Calmar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θ por régimen le gana al θ único en los tres bloques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Risk Parity iguala el riesgo y reduce el drawdown</a:t>
            </a:r>
            <a:endParaRPr lang="en-US" sz="1600" dirty="0"/>
          </a:p>
        </p:txBody>
      </p:sp>
      <p:sp>
        <p:nvSpPr>
          <p:cNvPr id="6" name="No se sostiene"/>
          <p:cNvSpPr/>
          <p:nvPr/>
        </p:nvSpPr>
        <p:spPr>
          <a:xfrm>
            <a:off x="6324448" y="1600200"/>
            <a:ext cx="5318608" cy="2834640"/>
          </a:xfrm>
          <a:prstGeom prst="roundRect">
            <a:avLst>
              <a:gd name="adj" fmla="val 3871"/>
            </a:avLst>
          </a:prstGeom>
          <a:solidFill>
            <a:srgbClr val="1D3560"/>
          </a:solidFill>
          <a:ln w="12700">
            <a:solidFill>
              <a:srgbClr val="1D3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44488" y="178308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sostiene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644488" y="237744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 edge in-sample: eficiencia de 0.15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Rentabilidad neta: costos e impacto deciden el resultado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Frente a buy &amp; hold, incluso a igual volatilidad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Siguiente paso, sin data snooping: universo más amplio, ventanas más largas, un objetivo menos ruidoso que el Calmar de 6 meses y un m de reversión fijado de antemano, validado con datos nuevos.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02 Equipo 3">
  <a:themeElements>
    <a:clrScheme name="Lab02 Equipo 3">
      <a:dk1>
        <a:srgbClr val="0F1B2D"/>
      </a:dk1>
      <a:lt1>
        <a:srgbClr val="FFFFFF"/>
      </a:lt1>
      <a:dk2>
        <a:srgbClr val="14284B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52514E"/>
      </a:accent5>
      <a:accent6>
        <a:srgbClr val="898781"/>
      </a:accent6>
      <a:hlink>
        <a:srgbClr val="2A78D6"/>
      </a:hlink>
      <a:folHlink>
        <a:srgbClr val="4A3AA7"/>
      </a:folHlink>
    </a:clrScheme>
    <a:fontScheme name="Lab02 Equipo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Estrategias de trading con análisis técnico — Lab 02, Equipo 3</dc:title>
  <dc:subject>PptxGenJS Presentation</dc:subject>
  <dc:creator>Equipo 3</dc:creator>
  <cp:lastModifiedBy>Equipo 3</cp:lastModifiedBy>
  <cp:revision>1</cp:revision>
  <dcterms:created xsi:type="dcterms:W3CDTF">2026-10-07T05:25:35Z</dcterms:created>
  <dcterms:modified xsi:type="dcterms:W3CDTF">2026-10-07T05:25:35Z</dcterms:modified>
</cp:coreProperties>
</file>